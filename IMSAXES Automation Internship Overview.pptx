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League Spartan" charset="1" panose="00000800000000000000"/>
      <p:regular r:id="rId23"/>
    </p:embeddedFont>
    <p:embeddedFont>
      <p:font typeface="Agrandir Bold" charset="1" panose="00000800000000000000"/>
      <p:regular r:id="rId24"/>
    </p:embeddedFont>
    <p:embeddedFont>
      <p:font typeface="Agrandir"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5746408" y="313159"/>
            <a:ext cx="13928456" cy="9401708"/>
          </a:xfrm>
          <a:custGeom>
            <a:avLst/>
            <a:gdLst/>
            <a:ahLst/>
            <a:cxnLst/>
            <a:rect r="r" b="b" t="t" l="l"/>
            <a:pathLst>
              <a:path h="9401708" w="13928456">
                <a:moveTo>
                  <a:pt x="0" y="0"/>
                </a:moveTo>
                <a:lnTo>
                  <a:pt x="13928456" y="0"/>
                </a:lnTo>
                <a:lnTo>
                  <a:pt x="13928456" y="9401708"/>
                </a:lnTo>
                <a:lnTo>
                  <a:pt x="0" y="9401708"/>
                </a:lnTo>
                <a:lnTo>
                  <a:pt x="0" y="0"/>
                </a:lnTo>
                <a:close/>
              </a:path>
            </a:pathLst>
          </a:custGeom>
          <a:blipFill>
            <a:blip r:embed="rId3"/>
            <a:stretch>
              <a:fillRect l="0" t="0" r="0" b="0"/>
            </a:stretch>
          </a:blipFill>
        </p:spPr>
      </p:sp>
      <p:sp>
        <p:nvSpPr>
          <p:cNvPr name="Freeform 4" id="4"/>
          <p:cNvSpPr/>
          <p:nvPr/>
        </p:nvSpPr>
        <p:spPr>
          <a:xfrm flipH="false" flipV="false" rot="0">
            <a:off x="8029944" y="2692899"/>
            <a:ext cx="580933" cy="838617"/>
          </a:xfrm>
          <a:custGeom>
            <a:avLst/>
            <a:gdLst/>
            <a:ahLst/>
            <a:cxnLst/>
            <a:rect r="r" b="b" t="t" l="l"/>
            <a:pathLst>
              <a:path h="838617" w="580933">
                <a:moveTo>
                  <a:pt x="0" y="0"/>
                </a:moveTo>
                <a:lnTo>
                  <a:pt x="580933" y="0"/>
                </a:lnTo>
                <a:lnTo>
                  <a:pt x="580933" y="838617"/>
                </a:lnTo>
                <a:lnTo>
                  <a:pt x="0" y="8386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0" y="6804810"/>
            <a:ext cx="6282507" cy="3482190"/>
          </a:xfrm>
          <a:custGeom>
            <a:avLst/>
            <a:gdLst/>
            <a:ahLst/>
            <a:cxnLst/>
            <a:rect r="r" b="b" t="t" l="l"/>
            <a:pathLst>
              <a:path h="3482190" w="6282507">
                <a:moveTo>
                  <a:pt x="0" y="3482190"/>
                </a:moveTo>
                <a:lnTo>
                  <a:pt x="6282507" y="3482190"/>
                </a:lnTo>
                <a:lnTo>
                  <a:pt x="6282507" y="0"/>
                </a:lnTo>
                <a:lnTo>
                  <a:pt x="0" y="0"/>
                </a:lnTo>
                <a:lnTo>
                  <a:pt x="0" y="3482190"/>
                </a:lnTo>
                <a:close/>
              </a:path>
            </a:pathLst>
          </a:custGeom>
          <a:blipFill>
            <a:blip r:embed="rId6">
              <a:alphaModFix amt="84000"/>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8320410" y="2588124"/>
            <a:ext cx="9361384" cy="1954767"/>
          </a:xfrm>
          <a:prstGeom prst="rect">
            <a:avLst/>
          </a:prstGeom>
        </p:spPr>
        <p:txBody>
          <a:bodyPr anchor="t" rtlCol="false" tIns="0" lIns="0" bIns="0" rIns="0">
            <a:spAutoFit/>
          </a:bodyPr>
          <a:lstStyle/>
          <a:p>
            <a:pPr algn="ctr" marL="0" indent="0" lvl="0">
              <a:lnSpc>
                <a:spcPts val="7942"/>
              </a:lnSpc>
              <a:spcBef>
                <a:spcPct val="0"/>
              </a:spcBef>
            </a:pPr>
            <a:r>
              <a:rPr lang="en-US" b="true" sz="5673">
                <a:solidFill>
                  <a:srgbClr val="5598C2"/>
                </a:solidFill>
                <a:latin typeface="League Spartan"/>
                <a:ea typeface="League Spartan"/>
                <a:cs typeface="League Spartan"/>
                <a:sym typeface="League Spartan"/>
              </a:rPr>
              <a:t>IMSAXES Automation Project</a:t>
            </a:r>
          </a:p>
        </p:txBody>
      </p:sp>
      <p:sp>
        <p:nvSpPr>
          <p:cNvPr name="TextBox 7" id="7"/>
          <p:cNvSpPr txBox="true"/>
          <p:nvPr/>
        </p:nvSpPr>
        <p:spPr>
          <a:xfrm rot="0">
            <a:off x="8029944" y="6750555"/>
            <a:ext cx="9419347" cy="894658"/>
          </a:xfrm>
          <a:prstGeom prst="rect">
            <a:avLst/>
          </a:prstGeom>
        </p:spPr>
        <p:txBody>
          <a:bodyPr anchor="t" rtlCol="false" tIns="0" lIns="0" bIns="0" rIns="0">
            <a:spAutoFit/>
          </a:bodyPr>
          <a:lstStyle/>
          <a:p>
            <a:pPr algn="just" marL="0" indent="0" lvl="0">
              <a:lnSpc>
                <a:spcPts val="3339"/>
              </a:lnSpc>
              <a:spcBef>
                <a:spcPct val="0"/>
              </a:spcBef>
            </a:pPr>
            <a:r>
              <a:rPr lang="en-US" b="true" sz="2385">
                <a:solidFill>
                  <a:srgbClr val="374342"/>
                </a:solidFill>
                <a:latin typeface="Agrandir Bold"/>
                <a:ea typeface="Agrandir Bold"/>
                <a:cs typeface="Agrandir Bold"/>
                <a:sym typeface="Agrandir Bold"/>
              </a:rPr>
              <a:t>Ayush Dipakbhai Patel | 220170116031 | Programmer Analyst | VGEC, Chandkheda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4110965" y="4231612"/>
            <a:ext cx="10066071" cy="2528943"/>
          </a:xfrm>
          <a:prstGeom prst="rect">
            <a:avLst/>
          </a:prstGeom>
        </p:spPr>
        <p:txBody>
          <a:bodyPr anchor="t" rtlCol="false" tIns="0" lIns="0" bIns="0" rIns="0">
            <a:spAutoFit/>
          </a:bodyPr>
          <a:lstStyle/>
          <a:p>
            <a:pPr algn="ctr" marL="0" indent="0" lvl="0">
              <a:lnSpc>
                <a:spcPts val="3934"/>
              </a:lnSpc>
              <a:spcBef>
                <a:spcPct val="0"/>
              </a:spcBef>
            </a:pPr>
            <a:r>
              <a:rPr lang="en-US" sz="2810">
                <a:solidFill>
                  <a:srgbClr val="FFFFFF"/>
                </a:solidFill>
                <a:latin typeface="Agrandir"/>
                <a:ea typeface="Agrandir"/>
                <a:cs typeface="Agrandir"/>
                <a:sym typeface="Agrandir"/>
              </a:rPr>
              <a:t>Internship at Meditab Software Pvt. Ltd. as a Programmer Analyst in the IT Department during the 8th Semester under VGEC. The project focuses on automation in healthcare software testing, aimed at improving quality assurance processes for medical software solutions.</a:t>
            </a:r>
          </a:p>
        </p:txBody>
      </p:sp>
      <p:sp>
        <p:nvSpPr>
          <p:cNvPr name="TextBox 3" id="3"/>
          <p:cNvSpPr txBox="true"/>
          <p:nvPr/>
        </p:nvSpPr>
        <p:spPr>
          <a:xfrm rot="0">
            <a:off x="2639236" y="2154212"/>
            <a:ext cx="13009528" cy="1467783"/>
          </a:xfrm>
          <a:prstGeom prst="rect">
            <a:avLst/>
          </a:prstGeom>
        </p:spPr>
        <p:txBody>
          <a:bodyPr anchor="t" rtlCol="false" tIns="0" lIns="0" bIns="0" rIns="0">
            <a:spAutoFit/>
          </a:bodyPr>
          <a:lstStyle/>
          <a:p>
            <a:pPr algn="ctr" marL="0" indent="0" lvl="0">
              <a:lnSpc>
                <a:spcPts val="12023"/>
              </a:lnSpc>
              <a:spcBef>
                <a:spcPct val="0"/>
              </a:spcBef>
            </a:pPr>
            <a:r>
              <a:rPr lang="en-US" b="true" sz="8588">
                <a:solidFill>
                  <a:srgbClr val="FFFFFF"/>
                </a:solidFill>
                <a:latin typeface="League Spartan"/>
                <a:ea typeface="League Spartan"/>
                <a:cs typeface="League Spartan"/>
                <a:sym typeface="League Spartan"/>
              </a:rPr>
              <a:t>Internship Introduction</a:t>
            </a:r>
          </a:p>
        </p:txBody>
      </p:sp>
      <p:sp>
        <p:nvSpPr>
          <p:cNvPr name="Freeform 4" id="4"/>
          <p:cNvSpPr/>
          <p:nvPr/>
        </p:nvSpPr>
        <p:spPr>
          <a:xfrm flipH="false" flipV="false" rot="0">
            <a:off x="0" y="6857145"/>
            <a:ext cx="6658210" cy="3655963"/>
          </a:xfrm>
          <a:custGeom>
            <a:avLst/>
            <a:gdLst/>
            <a:ahLst/>
            <a:cxnLst/>
            <a:rect r="r" b="b" t="t" l="l"/>
            <a:pathLst>
              <a:path h="3655963" w="6658210">
                <a:moveTo>
                  <a:pt x="0" y="0"/>
                </a:moveTo>
                <a:lnTo>
                  <a:pt x="6658210" y="0"/>
                </a:lnTo>
                <a:lnTo>
                  <a:pt x="6658210" y="3655963"/>
                </a:lnTo>
                <a:lnTo>
                  <a:pt x="0" y="36559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1408863" y="0"/>
            <a:ext cx="6879137" cy="3777272"/>
          </a:xfrm>
          <a:custGeom>
            <a:avLst/>
            <a:gdLst/>
            <a:ahLst/>
            <a:cxnLst/>
            <a:rect r="r" b="b" t="t" l="l"/>
            <a:pathLst>
              <a:path h="3777272" w="6879137">
                <a:moveTo>
                  <a:pt x="6879137" y="3777272"/>
                </a:moveTo>
                <a:lnTo>
                  <a:pt x="0" y="3777272"/>
                </a:lnTo>
                <a:lnTo>
                  <a:pt x="0" y="0"/>
                </a:lnTo>
                <a:lnTo>
                  <a:pt x="6879137" y="0"/>
                </a:lnTo>
                <a:lnTo>
                  <a:pt x="6879137" y="3777272"/>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343277"/>
            <a:ext cx="13147010" cy="1012992"/>
          </a:xfrm>
          <a:prstGeom prst="rect">
            <a:avLst/>
          </a:prstGeom>
        </p:spPr>
        <p:txBody>
          <a:bodyPr anchor="t" rtlCol="false" tIns="0" lIns="0" bIns="0" rIns="0">
            <a:spAutoFit/>
          </a:bodyPr>
          <a:lstStyle/>
          <a:p>
            <a:pPr algn="ctr" marL="0" indent="0" lvl="0">
              <a:lnSpc>
                <a:spcPts val="8313"/>
              </a:lnSpc>
              <a:spcBef>
                <a:spcPct val="0"/>
              </a:spcBef>
            </a:pPr>
            <a:r>
              <a:rPr lang="en-US" b="true" sz="5938">
                <a:solidFill>
                  <a:srgbClr val="FFFFFF"/>
                </a:solidFill>
                <a:latin typeface="League Spartan"/>
                <a:ea typeface="League Spartan"/>
                <a:cs typeface="League Spartan"/>
                <a:sym typeface="League Spartan"/>
              </a:rPr>
              <a:t>About Meditab Software Pvt. Ltd.</a:t>
            </a:r>
          </a:p>
        </p:txBody>
      </p:sp>
      <p:sp>
        <p:nvSpPr>
          <p:cNvPr name="TextBox 3" id="3"/>
          <p:cNvSpPr txBox="true"/>
          <p:nvPr/>
        </p:nvSpPr>
        <p:spPr>
          <a:xfrm rot="0">
            <a:off x="3620585" y="4217353"/>
            <a:ext cx="10217427" cy="1538287"/>
          </a:xfrm>
          <a:prstGeom prst="rect">
            <a:avLst/>
          </a:prstGeom>
        </p:spPr>
        <p:txBody>
          <a:bodyPr anchor="t" rtlCol="false" tIns="0" lIns="0" bIns="0" rIns="0">
            <a:spAutoFit/>
          </a:bodyPr>
          <a:lstStyle/>
          <a:p>
            <a:pPr algn="l" marL="0" indent="0" lvl="0">
              <a:lnSpc>
                <a:spcPts val="3937"/>
              </a:lnSpc>
            </a:pPr>
            <a:r>
              <a:rPr lang="en-US" sz="2812">
                <a:solidFill>
                  <a:srgbClr val="FFFFFF"/>
                </a:solidFill>
                <a:latin typeface="Agrandir"/>
                <a:ea typeface="Agrandir"/>
                <a:cs typeface="Agrandir"/>
                <a:sym typeface="Agrandir"/>
              </a:rPr>
              <a:t>Founded in 1998, Meditab Software specializes in healthcare technology solutions with over 2600+ employees worldwide. The company is ISO 9001:2015 certified.</a:t>
            </a:r>
          </a:p>
        </p:txBody>
      </p:sp>
      <p:sp>
        <p:nvSpPr>
          <p:cNvPr name="TextBox 4" id="4"/>
          <p:cNvSpPr txBox="true"/>
          <p:nvPr/>
        </p:nvSpPr>
        <p:spPr>
          <a:xfrm rot="0">
            <a:off x="3620585" y="6343162"/>
            <a:ext cx="10217427" cy="1538287"/>
          </a:xfrm>
          <a:prstGeom prst="rect">
            <a:avLst/>
          </a:prstGeom>
        </p:spPr>
        <p:txBody>
          <a:bodyPr anchor="t" rtlCol="false" tIns="0" lIns="0" bIns="0" rIns="0">
            <a:spAutoFit/>
          </a:bodyPr>
          <a:lstStyle/>
          <a:p>
            <a:pPr algn="l" marL="0" indent="0" lvl="0">
              <a:lnSpc>
                <a:spcPts val="3937"/>
              </a:lnSpc>
            </a:pPr>
            <a:r>
              <a:rPr lang="en-US" sz="2812">
                <a:solidFill>
                  <a:srgbClr val="FFFFFF"/>
                </a:solidFill>
                <a:latin typeface="Agrandir"/>
                <a:ea typeface="Agrandir"/>
                <a:cs typeface="Agrandir"/>
                <a:sym typeface="Agrandir"/>
              </a:rPr>
              <a:t>Global presence with offices in USA (Headquarters), India, Philippines, and Argentina, delivering innovative healthcare software solutions internationally.</a:t>
            </a:r>
          </a:p>
        </p:txBody>
      </p:sp>
      <p:sp>
        <p:nvSpPr>
          <p:cNvPr name="Freeform 5" id="5"/>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9863594" y="941202"/>
            <a:ext cx="7657546" cy="2653863"/>
          </a:xfrm>
          <a:prstGeom prst="rect">
            <a:avLst/>
          </a:prstGeom>
        </p:spPr>
        <p:txBody>
          <a:bodyPr anchor="t" rtlCol="false" tIns="0" lIns="0" bIns="0" rIns="0">
            <a:spAutoFit/>
          </a:bodyPr>
          <a:lstStyle/>
          <a:p>
            <a:pPr algn="l" marL="0" indent="0" lvl="0">
              <a:lnSpc>
                <a:spcPts val="10699"/>
              </a:lnSpc>
              <a:spcBef>
                <a:spcPct val="0"/>
              </a:spcBef>
            </a:pPr>
            <a:r>
              <a:rPr lang="en-US" b="true" sz="7642">
                <a:solidFill>
                  <a:srgbClr val="FFFFFF"/>
                </a:solidFill>
                <a:latin typeface="League Spartan"/>
                <a:ea typeface="League Spartan"/>
                <a:cs typeface="League Spartan"/>
                <a:sym typeface="League Spartan"/>
              </a:rPr>
              <a:t>Meditab's Main Product: IMS</a:t>
            </a:r>
          </a:p>
        </p:txBody>
      </p:sp>
      <p:sp>
        <p:nvSpPr>
          <p:cNvPr name="TextBox 3" id="3"/>
          <p:cNvSpPr txBox="true"/>
          <p:nvPr/>
        </p:nvSpPr>
        <p:spPr>
          <a:xfrm rot="0">
            <a:off x="9144000" y="4110211"/>
            <a:ext cx="7657546" cy="2328602"/>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Intelligent Medical Software (IMS) is a comprehensive multispecialty EHR and practice management system designed for modern healthcare.</a:t>
            </a:r>
          </a:p>
        </p:txBody>
      </p:sp>
      <p:sp>
        <p:nvSpPr>
          <p:cNvPr name="Freeform 4" id="4"/>
          <p:cNvSpPr/>
          <p:nvPr/>
        </p:nvSpPr>
        <p:spPr>
          <a:xfrm flipH="false" flipV="false" rot="0">
            <a:off x="0" y="0"/>
            <a:ext cx="8044183" cy="10287000"/>
          </a:xfrm>
          <a:custGeom>
            <a:avLst/>
            <a:gdLst/>
            <a:ahLst/>
            <a:cxnLst/>
            <a:rect r="r" b="b" t="t" l="l"/>
            <a:pathLst>
              <a:path h="10287000" w="8044183">
                <a:moveTo>
                  <a:pt x="0" y="0"/>
                </a:moveTo>
                <a:lnTo>
                  <a:pt x="8044183" y="0"/>
                </a:lnTo>
                <a:lnTo>
                  <a:pt x="8044183" y="10287000"/>
                </a:lnTo>
                <a:lnTo>
                  <a:pt x="0" y="10287000"/>
                </a:lnTo>
                <a:lnTo>
                  <a:pt x="0" y="0"/>
                </a:lnTo>
                <a:close/>
              </a:path>
            </a:pathLst>
          </a:custGeom>
          <a:blipFill>
            <a:blip r:embed="rId2"/>
            <a:stretch>
              <a:fillRect l="-1711" t="0" r="-1711" b="0"/>
            </a:stretch>
          </a:blipFill>
        </p:spPr>
      </p:sp>
      <p:sp>
        <p:nvSpPr>
          <p:cNvPr name="TextBox 5" id="5"/>
          <p:cNvSpPr txBox="true"/>
          <p:nvPr/>
        </p:nvSpPr>
        <p:spPr>
          <a:xfrm rot="0">
            <a:off x="9144000" y="6564210"/>
            <a:ext cx="7657546" cy="2328602"/>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Supports clinics and hospitals with integrated healthcare management, focusing on quality, scalability, and innovation.</a:t>
            </a:r>
          </a:p>
        </p:txBody>
      </p:sp>
      <p:sp>
        <p:nvSpPr>
          <p:cNvPr name="Freeform 6" id="6"/>
          <p:cNvSpPr/>
          <p:nvPr/>
        </p:nvSpPr>
        <p:spPr>
          <a:xfrm flipH="false" flipV="false" rot="0">
            <a:off x="8044183" y="7809445"/>
            <a:ext cx="4512103" cy="2477555"/>
          </a:xfrm>
          <a:custGeom>
            <a:avLst/>
            <a:gdLst/>
            <a:ahLst/>
            <a:cxnLst/>
            <a:rect r="r" b="b" t="t" l="l"/>
            <a:pathLst>
              <a:path h="2477555" w="4512103">
                <a:moveTo>
                  <a:pt x="0" y="0"/>
                </a:moveTo>
                <a:lnTo>
                  <a:pt x="4512104" y="0"/>
                </a:lnTo>
                <a:lnTo>
                  <a:pt x="4512104" y="2477555"/>
                </a:lnTo>
                <a:lnTo>
                  <a:pt x="0" y="24775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0">
            <a:off x="13692367" y="0"/>
            <a:ext cx="4595633" cy="2523420"/>
          </a:xfrm>
          <a:custGeom>
            <a:avLst/>
            <a:gdLst/>
            <a:ahLst/>
            <a:cxnLst/>
            <a:rect r="r" b="b" t="t" l="l"/>
            <a:pathLst>
              <a:path h="2523420" w="4595633">
                <a:moveTo>
                  <a:pt x="4595633" y="2523420"/>
                </a:moveTo>
                <a:lnTo>
                  <a:pt x="0" y="2523420"/>
                </a:lnTo>
                <a:lnTo>
                  <a:pt x="0" y="0"/>
                </a:lnTo>
                <a:lnTo>
                  <a:pt x="4595633" y="0"/>
                </a:lnTo>
                <a:lnTo>
                  <a:pt x="4595633" y="252342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0" y="-712395"/>
            <a:ext cx="6282507" cy="3482190"/>
          </a:xfrm>
          <a:custGeom>
            <a:avLst/>
            <a:gdLst/>
            <a:ahLst/>
            <a:cxnLst/>
            <a:rect r="r" b="b" t="t" l="l"/>
            <a:pathLst>
              <a:path h="3482190" w="6282507">
                <a:moveTo>
                  <a:pt x="0" y="0"/>
                </a:moveTo>
                <a:lnTo>
                  <a:pt x="6282507" y="0"/>
                </a:lnTo>
                <a:lnTo>
                  <a:pt x="6282507" y="3482190"/>
                </a:lnTo>
                <a:lnTo>
                  <a:pt x="0" y="3482190"/>
                </a:lnTo>
                <a:lnTo>
                  <a:pt x="0" y="0"/>
                </a:lnTo>
                <a:close/>
              </a:path>
            </a:pathLst>
          </a:custGeom>
          <a:blipFill>
            <a:blip r:embed="rId5">
              <a:alphaModFix amt="84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314702"/>
            <a:ext cx="13147010" cy="1267105"/>
          </a:xfrm>
          <a:prstGeom prst="rect">
            <a:avLst/>
          </a:prstGeom>
        </p:spPr>
        <p:txBody>
          <a:bodyPr anchor="t" rtlCol="false" tIns="0" lIns="0" bIns="0" rIns="0">
            <a:spAutoFit/>
          </a:bodyPr>
          <a:lstStyle/>
          <a:p>
            <a:pPr algn="ctr" marL="0" indent="0" lvl="0">
              <a:lnSpc>
                <a:spcPts val="10344"/>
              </a:lnSpc>
              <a:spcBef>
                <a:spcPct val="0"/>
              </a:spcBef>
            </a:pPr>
            <a:r>
              <a:rPr lang="en-US" b="true" sz="7389">
                <a:solidFill>
                  <a:srgbClr val="FFFFFF"/>
                </a:solidFill>
                <a:latin typeface="League Spartan"/>
                <a:ea typeface="League Spartan"/>
                <a:cs typeface="League Spartan"/>
                <a:sym typeface="League Spartan"/>
              </a:rPr>
              <a:t>IMSAXES Project Overview</a:t>
            </a:r>
          </a:p>
        </p:txBody>
      </p:sp>
      <p:sp>
        <p:nvSpPr>
          <p:cNvPr name="TextBox 3" id="3"/>
          <p:cNvSpPr txBox="true"/>
          <p:nvPr/>
        </p:nvSpPr>
        <p:spPr>
          <a:xfrm rot="0">
            <a:off x="3620585" y="5897283"/>
            <a:ext cx="10217427" cy="901649"/>
          </a:xfrm>
          <a:prstGeom prst="rect">
            <a:avLst/>
          </a:prstGeom>
        </p:spPr>
        <p:txBody>
          <a:bodyPr anchor="t" rtlCol="false" tIns="0" lIns="0" bIns="0" rIns="0">
            <a:spAutoFit/>
          </a:bodyPr>
          <a:lstStyle/>
          <a:p>
            <a:pPr algn="l" marL="0" indent="0" lvl="0">
              <a:lnSpc>
                <a:spcPts val="3327"/>
              </a:lnSpc>
            </a:pPr>
            <a:r>
              <a:rPr lang="en-US" sz="2377">
                <a:solidFill>
                  <a:srgbClr val="FFFFFF"/>
                </a:solidFill>
                <a:latin typeface="Agrandir"/>
                <a:ea typeface="Agrandir"/>
                <a:cs typeface="Agrandir"/>
                <a:sym typeface="Agrandir"/>
              </a:rPr>
              <a:t>• Scope: Automate testing of internal web and Windows applications</a:t>
            </a:r>
          </a:p>
          <a:p>
            <a:pPr algn="l" marL="0" indent="0" lvl="0">
              <a:lnSpc>
                <a:spcPts val="3327"/>
              </a:lnSpc>
            </a:pPr>
            <a:r>
              <a:rPr lang="en-US" sz="2377">
                <a:solidFill>
                  <a:srgbClr val="FFFFFF"/>
                </a:solidFill>
                <a:latin typeface="Agrandir"/>
                <a:ea typeface="Agrandir"/>
                <a:cs typeface="Agrandir"/>
                <a:sym typeface="Agrandir"/>
              </a:rPr>
              <a:t>• Goal: Reduce manual testing effort and improve product quality</a:t>
            </a:r>
          </a:p>
        </p:txBody>
      </p:sp>
      <p:sp>
        <p:nvSpPr>
          <p:cNvPr name="Freeform 4" id="4"/>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620585" y="4822388"/>
            <a:ext cx="10217427" cy="901649"/>
          </a:xfrm>
          <a:prstGeom prst="rect">
            <a:avLst/>
          </a:prstGeom>
        </p:spPr>
        <p:txBody>
          <a:bodyPr anchor="t" rtlCol="false" tIns="0" lIns="0" bIns="0" rIns="0">
            <a:spAutoFit/>
          </a:bodyPr>
          <a:lstStyle/>
          <a:p>
            <a:pPr algn="l" marL="0" indent="0" lvl="0">
              <a:lnSpc>
                <a:spcPts val="3327"/>
              </a:lnSpc>
            </a:pPr>
            <a:r>
              <a:rPr lang="en-US" sz="2377">
                <a:solidFill>
                  <a:srgbClr val="FFFFFF"/>
                </a:solidFill>
                <a:latin typeface="Agrandir"/>
                <a:ea typeface="Agrandir"/>
                <a:cs typeface="Agrandir"/>
                <a:sym typeface="Agrandir"/>
              </a:rPr>
              <a:t>• Project: IMSAXES (Automation Execution Environment IMS)</a:t>
            </a:r>
          </a:p>
          <a:p>
            <a:pPr algn="l" marL="0" indent="0" lvl="0">
              <a:lnSpc>
                <a:spcPts val="3327"/>
              </a:lnSpc>
            </a:pPr>
            <a:r>
              <a:rPr lang="en-US" sz="2377">
                <a:solidFill>
                  <a:srgbClr val="FFFFFF"/>
                </a:solidFill>
                <a:latin typeface="Agrandir"/>
                <a:ea typeface="Agrandir"/>
                <a:cs typeface="Agrandir"/>
                <a:sym typeface="Agrandir"/>
              </a:rPr>
              <a:t>• Aim: Build scalable automation frameworks for regression testing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286127"/>
            <a:ext cx="13147010" cy="1531335"/>
          </a:xfrm>
          <a:prstGeom prst="rect">
            <a:avLst/>
          </a:prstGeom>
        </p:spPr>
        <p:txBody>
          <a:bodyPr anchor="t" rtlCol="false" tIns="0" lIns="0" bIns="0" rIns="0">
            <a:spAutoFit/>
          </a:bodyPr>
          <a:lstStyle/>
          <a:p>
            <a:pPr algn="ctr" marL="0" indent="0" lvl="0">
              <a:lnSpc>
                <a:spcPts val="12506"/>
              </a:lnSpc>
              <a:spcBef>
                <a:spcPct val="0"/>
              </a:spcBef>
            </a:pPr>
            <a:r>
              <a:rPr lang="en-US" b="true" sz="8933">
                <a:solidFill>
                  <a:srgbClr val="FFFFFF"/>
                </a:solidFill>
                <a:latin typeface="League Spartan"/>
                <a:ea typeface="League Spartan"/>
                <a:cs typeface="League Spartan"/>
                <a:sym typeface="League Spartan"/>
              </a:rPr>
              <a:t>Training Received</a:t>
            </a:r>
          </a:p>
        </p:txBody>
      </p:sp>
      <p:sp>
        <p:nvSpPr>
          <p:cNvPr name="TextBox 3" id="3"/>
          <p:cNvSpPr txBox="true"/>
          <p:nvPr/>
        </p:nvSpPr>
        <p:spPr>
          <a:xfrm rot="0">
            <a:off x="3620585" y="4198303"/>
            <a:ext cx="10217427" cy="1185545"/>
          </a:xfrm>
          <a:prstGeom prst="rect">
            <a:avLst/>
          </a:prstGeom>
        </p:spPr>
        <p:txBody>
          <a:bodyPr anchor="t" rtlCol="false" tIns="0" lIns="0" bIns="0" rIns="0">
            <a:spAutoFit/>
          </a:bodyPr>
          <a:lstStyle/>
          <a:p>
            <a:pPr algn="l" marL="0" indent="0" lvl="0">
              <a:lnSpc>
                <a:spcPts val="4480"/>
              </a:lnSpc>
            </a:pPr>
            <a:r>
              <a:rPr lang="en-US" sz="3200">
                <a:solidFill>
                  <a:srgbClr val="FFFFFF"/>
                </a:solidFill>
                <a:latin typeface="Agrandir"/>
                <a:ea typeface="Agrandir"/>
                <a:cs typeface="Agrandir"/>
                <a:sym typeface="Agrandir"/>
              </a:rPr>
              <a:t>SQL: Complex queries, joins, and backend data validation techniques for database testing</a:t>
            </a:r>
          </a:p>
        </p:txBody>
      </p:sp>
      <p:sp>
        <p:nvSpPr>
          <p:cNvPr name="TextBox 4" id="4"/>
          <p:cNvSpPr txBox="true"/>
          <p:nvPr/>
        </p:nvSpPr>
        <p:spPr>
          <a:xfrm rot="0">
            <a:off x="3620585" y="6324112"/>
            <a:ext cx="10217427" cy="1185545"/>
          </a:xfrm>
          <a:prstGeom prst="rect">
            <a:avLst/>
          </a:prstGeom>
        </p:spPr>
        <p:txBody>
          <a:bodyPr anchor="t" rtlCol="false" tIns="0" lIns="0" bIns="0" rIns="0">
            <a:spAutoFit/>
          </a:bodyPr>
          <a:lstStyle/>
          <a:p>
            <a:pPr algn="l" marL="0" indent="0" lvl="0">
              <a:lnSpc>
                <a:spcPts val="4480"/>
              </a:lnSpc>
            </a:pPr>
            <a:r>
              <a:rPr lang="en-US" sz="3200">
                <a:solidFill>
                  <a:srgbClr val="FFFFFF"/>
                </a:solidFill>
                <a:latin typeface="Agrandir"/>
                <a:ea typeface="Agrandir"/>
                <a:cs typeface="Agrandir"/>
                <a:sym typeface="Agrandir"/>
              </a:rPr>
              <a:t>Java: Object-oriented programming, exception handling, and API integration for automation scripts</a:t>
            </a:r>
          </a:p>
        </p:txBody>
      </p:sp>
      <p:sp>
        <p:nvSpPr>
          <p:cNvPr name="Freeform 5" id="5"/>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324227"/>
            <a:ext cx="13147010" cy="1203428"/>
          </a:xfrm>
          <a:prstGeom prst="rect">
            <a:avLst/>
          </a:prstGeom>
        </p:spPr>
        <p:txBody>
          <a:bodyPr anchor="t" rtlCol="false" tIns="0" lIns="0" bIns="0" rIns="0">
            <a:spAutoFit/>
          </a:bodyPr>
          <a:lstStyle/>
          <a:p>
            <a:pPr algn="ctr" marL="0" indent="0" lvl="0">
              <a:lnSpc>
                <a:spcPts val="9886"/>
              </a:lnSpc>
              <a:spcBef>
                <a:spcPct val="0"/>
              </a:spcBef>
            </a:pPr>
            <a:r>
              <a:rPr lang="en-US" b="true" sz="7061">
                <a:solidFill>
                  <a:srgbClr val="FFFFFF"/>
                </a:solidFill>
                <a:latin typeface="League Spartan"/>
                <a:ea typeface="League Spartan"/>
                <a:cs typeface="League Spartan"/>
                <a:sym typeface="League Spartan"/>
              </a:rPr>
              <a:t>Technologies and Tools Used</a:t>
            </a:r>
          </a:p>
        </p:txBody>
      </p:sp>
      <p:sp>
        <p:nvSpPr>
          <p:cNvPr name="TextBox 3" id="3"/>
          <p:cNvSpPr txBox="true"/>
          <p:nvPr/>
        </p:nvSpPr>
        <p:spPr>
          <a:xfrm rot="0">
            <a:off x="3620585" y="6343162"/>
            <a:ext cx="10217427" cy="901649"/>
          </a:xfrm>
          <a:prstGeom prst="rect">
            <a:avLst/>
          </a:prstGeom>
        </p:spPr>
        <p:txBody>
          <a:bodyPr anchor="t" rtlCol="false" tIns="0" lIns="0" bIns="0" rIns="0">
            <a:spAutoFit/>
          </a:bodyPr>
          <a:lstStyle/>
          <a:p>
            <a:pPr algn="l" marL="0" indent="0" lvl="0">
              <a:lnSpc>
                <a:spcPts val="3327"/>
              </a:lnSpc>
            </a:pPr>
            <a:r>
              <a:rPr lang="en-US" sz="2377">
                <a:solidFill>
                  <a:srgbClr val="FFFFFF"/>
                </a:solidFill>
                <a:latin typeface="Agrandir"/>
                <a:ea typeface="Agrandir"/>
                <a:cs typeface="Agrandir"/>
                <a:sym typeface="Agrandir"/>
              </a:rPr>
              <a:t>Web Technologies: React.js, Express.js, Node.js</a:t>
            </a:r>
          </a:p>
          <a:p>
            <a:pPr algn="l" marL="0" indent="0" lvl="0">
              <a:lnSpc>
                <a:spcPts val="3327"/>
              </a:lnSpc>
            </a:pPr>
            <a:r>
              <a:rPr lang="en-US" sz="2377">
                <a:solidFill>
                  <a:srgbClr val="FFFFFF"/>
                </a:solidFill>
                <a:latin typeface="Agrandir"/>
                <a:ea typeface="Agrandir"/>
                <a:cs typeface="Agrandir"/>
                <a:sym typeface="Agrandir"/>
              </a:rPr>
              <a:t>Databases: PostgreSQL, MySQL</a:t>
            </a:r>
          </a:p>
        </p:txBody>
      </p:sp>
      <p:sp>
        <p:nvSpPr>
          <p:cNvPr name="Freeform 4" id="4"/>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620585" y="4217353"/>
            <a:ext cx="10217427" cy="1739849"/>
          </a:xfrm>
          <a:prstGeom prst="rect">
            <a:avLst/>
          </a:prstGeom>
        </p:spPr>
        <p:txBody>
          <a:bodyPr anchor="t" rtlCol="false" tIns="0" lIns="0" bIns="0" rIns="0">
            <a:spAutoFit/>
          </a:bodyPr>
          <a:lstStyle/>
          <a:p>
            <a:pPr algn="l" marL="0" indent="0" lvl="0">
              <a:lnSpc>
                <a:spcPts val="3327"/>
              </a:lnSpc>
            </a:pPr>
            <a:r>
              <a:rPr lang="en-US" sz="2377">
                <a:solidFill>
                  <a:srgbClr val="FFFFFF"/>
                </a:solidFill>
                <a:latin typeface="Agrandir"/>
                <a:ea typeface="Agrandir"/>
                <a:cs typeface="Agrandir"/>
                <a:sym typeface="Agrandir"/>
              </a:rPr>
              <a:t>Programming: Java, JavaScript</a:t>
            </a:r>
          </a:p>
          <a:p>
            <a:pPr algn="l" marL="0" indent="0" lvl="0">
              <a:lnSpc>
                <a:spcPts val="3327"/>
              </a:lnSpc>
            </a:pPr>
            <a:r>
              <a:rPr lang="en-US" sz="2377">
                <a:solidFill>
                  <a:srgbClr val="FFFFFF"/>
                </a:solidFill>
                <a:latin typeface="Agrandir"/>
                <a:ea typeface="Agrandir"/>
                <a:cs typeface="Agrandir"/>
                <a:sym typeface="Agrandir"/>
              </a:rPr>
              <a:t>IDE &amp; Tools: Eclipse IDE, UFT</a:t>
            </a:r>
          </a:p>
          <a:p>
            <a:pPr algn="l" marL="0" indent="0" lvl="0">
              <a:lnSpc>
                <a:spcPts val="3327"/>
              </a:lnSpc>
            </a:pPr>
            <a:r>
              <a:rPr lang="en-US" sz="2377">
                <a:solidFill>
                  <a:srgbClr val="FFFFFF"/>
                </a:solidFill>
                <a:latin typeface="Agrandir"/>
                <a:ea typeface="Agrandir"/>
                <a:cs typeface="Agrandir"/>
                <a:sym typeface="Agrandir"/>
              </a:rPr>
              <a:t>Frameworks: Maven, TestNG, Selenium WebDriver</a:t>
            </a:r>
          </a:p>
          <a:p>
            <a:pPr algn="l" marL="0" indent="0" lvl="0">
              <a:lnSpc>
                <a:spcPts val="3327"/>
              </a:lnSpc>
            </a:pPr>
            <a:r>
              <a:rPr lang="en-US" sz="2377">
                <a:solidFill>
                  <a:srgbClr val="FFFFFF"/>
                </a:solidFill>
                <a:latin typeface="Agrandir"/>
                <a:ea typeface="Agrandir"/>
                <a:cs typeface="Agrandir"/>
                <a:sym typeface="Agrandir"/>
              </a:rPr>
              <a:t>Reporting: Extent Reports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286127"/>
            <a:ext cx="13147010" cy="1531335"/>
          </a:xfrm>
          <a:prstGeom prst="rect">
            <a:avLst/>
          </a:prstGeom>
        </p:spPr>
        <p:txBody>
          <a:bodyPr anchor="t" rtlCol="false" tIns="0" lIns="0" bIns="0" rIns="0">
            <a:spAutoFit/>
          </a:bodyPr>
          <a:lstStyle/>
          <a:p>
            <a:pPr algn="ctr" marL="0" indent="0" lvl="0">
              <a:lnSpc>
                <a:spcPts val="12506"/>
              </a:lnSpc>
              <a:spcBef>
                <a:spcPct val="0"/>
              </a:spcBef>
            </a:pPr>
            <a:r>
              <a:rPr lang="en-US" b="true" sz="8933">
                <a:solidFill>
                  <a:srgbClr val="FFFFFF"/>
                </a:solidFill>
                <a:latin typeface="League Spartan"/>
                <a:ea typeface="League Spartan"/>
                <a:cs typeface="League Spartan"/>
                <a:sym typeface="League Spartan"/>
              </a:rPr>
              <a:t>Project Objectives</a:t>
            </a:r>
          </a:p>
        </p:txBody>
      </p:sp>
      <p:sp>
        <p:nvSpPr>
          <p:cNvPr name="TextBox 3" id="3"/>
          <p:cNvSpPr txBox="true"/>
          <p:nvPr/>
        </p:nvSpPr>
        <p:spPr>
          <a:xfrm rot="0">
            <a:off x="3620585" y="4179253"/>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Maximize test coverage with minimal human effort through automated execution frameworks and parallel batch processing.</a:t>
            </a:r>
          </a:p>
        </p:txBody>
      </p:sp>
      <p:sp>
        <p:nvSpPr>
          <p:cNvPr name="TextBox 4" id="4"/>
          <p:cNvSpPr txBox="true"/>
          <p:nvPr/>
        </p:nvSpPr>
        <p:spPr>
          <a:xfrm rot="0">
            <a:off x="3620585" y="6305062"/>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Enable quick feedback during CI/CD cycles, ensure application reliability, and reuse scripts across modules and clients.</a:t>
            </a:r>
          </a:p>
        </p:txBody>
      </p:sp>
      <p:sp>
        <p:nvSpPr>
          <p:cNvPr name="Freeform 5" id="5"/>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9863594" y="912627"/>
            <a:ext cx="7657546" cy="3072287"/>
          </a:xfrm>
          <a:prstGeom prst="rect">
            <a:avLst/>
          </a:prstGeom>
        </p:spPr>
        <p:txBody>
          <a:bodyPr anchor="t" rtlCol="false" tIns="0" lIns="0" bIns="0" rIns="0">
            <a:spAutoFit/>
          </a:bodyPr>
          <a:lstStyle/>
          <a:p>
            <a:pPr algn="l" marL="0" indent="0" lvl="0">
              <a:lnSpc>
                <a:spcPts val="12311"/>
              </a:lnSpc>
              <a:spcBef>
                <a:spcPct val="0"/>
              </a:spcBef>
            </a:pPr>
            <a:r>
              <a:rPr lang="en-US" b="true" sz="8793">
                <a:solidFill>
                  <a:srgbClr val="FFFFFF"/>
                </a:solidFill>
                <a:latin typeface="League Spartan"/>
                <a:ea typeface="League Spartan"/>
                <a:cs typeface="League Spartan"/>
                <a:sym typeface="League Spartan"/>
              </a:rPr>
              <a:t>Key Features Developed</a:t>
            </a:r>
          </a:p>
        </p:txBody>
      </p:sp>
      <p:sp>
        <p:nvSpPr>
          <p:cNvPr name="TextBox 3" id="3"/>
          <p:cNvSpPr txBox="true"/>
          <p:nvPr/>
        </p:nvSpPr>
        <p:spPr>
          <a:xfrm rot="0">
            <a:off x="9144000" y="4138786"/>
            <a:ext cx="7657546" cy="2399367"/>
          </a:xfrm>
          <a:prstGeom prst="rect">
            <a:avLst/>
          </a:prstGeom>
        </p:spPr>
        <p:txBody>
          <a:bodyPr anchor="t" rtlCol="false" tIns="0" lIns="0" bIns="0" rIns="0">
            <a:spAutoFit/>
          </a:bodyPr>
          <a:lstStyle/>
          <a:p>
            <a:pPr algn="l" marL="0" indent="0" lvl="0">
              <a:lnSpc>
                <a:spcPts val="3726"/>
              </a:lnSpc>
            </a:pPr>
            <a:r>
              <a:rPr lang="en-US" sz="2661">
                <a:solidFill>
                  <a:srgbClr val="FFFFFF"/>
                </a:solidFill>
                <a:latin typeface="Agrandir"/>
                <a:ea typeface="Agrandir"/>
                <a:cs typeface="Agrandir"/>
                <a:sym typeface="Agrandir"/>
              </a:rPr>
              <a:t>• Automated fault tolerance and recovery with robust exception handling mechanisms</a:t>
            </a:r>
          </a:p>
          <a:p>
            <a:pPr algn="l" marL="0" indent="0" lvl="0">
              <a:lnSpc>
                <a:spcPts val="3726"/>
              </a:lnSpc>
            </a:pPr>
            <a:r>
              <a:rPr lang="en-US" sz="2661">
                <a:solidFill>
                  <a:srgbClr val="FFFFFF"/>
                </a:solidFill>
                <a:latin typeface="Agrandir"/>
                <a:ea typeface="Agrandir"/>
                <a:cs typeface="Agrandir"/>
                <a:sym typeface="Agrandir"/>
              </a:rPr>
              <a:t>• Orchestrated execution on dedicated Windows VMs with batch support for parallel testing</a:t>
            </a:r>
          </a:p>
        </p:txBody>
      </p:sp>
      <p:sp>
        <p:nvSpPr>
          <p:cNvPr name="Freeform 4" id="4"/>
          <p:cNvSpPr/>
          <p:nvPr/>
        </p:nvSpPr>
        <p:spPr>
          <a:xfrm flipH="false" flipV="false" rot="0">
            <a:off x="0" y="0"/>
            <a:ext cx="8044183" cy="10287000"/>
          </a:xfrm>
          <a:custGeom>
            <a:avLst/>
            <a:gdLst/>
            <a:ahLst/>
            <a:cxnLst/>
            <a:rect r="r" b="b" t="t" l="l"/>
            <a:pathLst>
              <a:path h="10287000" w="8044183">
                <a:moveTo>
                  <a:pt x="0" y="0"/>
                </a:moveTo>
                <a:lnTo>
                  <a:pt x="8044183" y="0"/>
                </a:lnTo>
                <a:lnTo>
                  <a:pt x="8044183" y="10287000"/>
                </a:lnTo>
                <a:lnTo>
                  <a:pt x="0" y="10287000"/>
                </a:lnTo>
                <a:lnTo>
                  <a:pt x="0" y="0"/>
                </a:lnTo>
                <a:close/>
              </a:path>
            </a:pathLst>
          </a:custGeom>
          <a:blipFill>
            <a:blip r:embed="rId2"/>
            <a:stretch>
              <a:fillRect l="-1711" t="0" r="-1711" b="0"/>
            </a:stretch>
          </a:blipFill>
        </p:spPr>
      </p:sp>
      <p:sp>
        <p:nvSpPr>
          <p:cNvPr name="TextBox 5" id="5"/>
          <p:cNvSpPr txBox="true"/>
          <p:nvPr/>
        </p:nvSpPr>
        <p:spPr>
          <a:xfrm rot="0">
            <a:off x="9144000" y="6592785"/>
            <a:ext cx="7657546" cy="1932642"/>
          </a:xfrm>
          <a:prstGeom prst="rect">
            <a:avLst/>
          </a:prstGeom>
        </p:spPr>
        <p:txBody>
          <a:bodyPr anchor="t" rtlCol="false" tIns="0" lIns="0" bIns="0" rIns="0">
            <a:spAutoFit/>
          </a:bodyPr>
          <a:lstStyle/>
          <a:p>
            <a:pPr algn="l" marL="0" indent="0" lvl="0">
              <a:lnSpc>
                <a:spcPts val="3726"/>
              </a:lnSpc>
            </a:pPr>
            <a:r>
              <a:rPr lang="en-US" sz="2661">
                <a:solidFill>
                  <a:srgbClr val="FFFFFF"/>
                </a:solidFill>
                <a:latin typeface="Agrandir"/>
                <a:ea typeface="Agrandir"/>
                <a:cs typeface="Agrandir"/>
                <a:sym typeface="Agrandir"/>
              </a:rPr>
              <a:t>• Intelligent telemetry and centralized logging for comprehensive failure analysis</a:t>
            </a:r>
          </a:p>
          <a:p>
            <a:pPr algn="l" marL="0" indent="0" lvl="0">
              <a:lnSpc>
                <a:spcPts val="3726"/>
              </a:lnSpc>
            </a:pPr>
            <a:r>
              <a:rPr lang="en-US" sz="2661">
                <a:solidFill>
                  <a:srgbClr val="FFFFFF"/>
                </a:solidFill>
                <a:latin typeface="Agrandir"/>
                <a:ea typeface="Agrandir"/>
                <a:cs typeface="Agrandir"/>
                <a:sym typeface="Agrandir"/>
              </a:rPr>
              <a:t>• Data visualization via user-friendly dashboards and automated screenshots</a:t>
            </a:r>
          </a:p>
        </p:txBody>
      </p:sp>
      <p:sp>
        <p:nvSpPr>
          <p:cNvPr name="Freeform 6" id="6"/>
          <p:cNvSpPr/>
          <p:nvPr/>
        </p:nvSpPr>
        <p:spPr>
          <a:xfrm flipH="false" flipV="false" rot="0">
            <a:off x="8044183" y="7809445"/>
            <a:ext cx="4512103" cy="2477555"/>
          </a:xfrm>
          <a:custGeom>
            <a:avLst/>
            <a:gdLst/>
            <a:ahLst/>
            <a:cxnLst/>
            <a:rect r="r" b="b" t="t" l="l"/>
            <a:pathLst>
              <a:path h="2477555" w="4512103">
                <a:moveTo>
                  <a:pt x="0" y="0"/>
                </a:moveTo>
                <a:lnTo>
                  <a:pt x="4512104" y="0"/>
                </a:lnTo>
                <a:lnTo>
                  <a:pt x="4512104" y="2477555"/>
                </a:lnTo>
                <a:lnTo>
                  <a:pt x="0" y="24775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0">
            <a:off x="13692367" y="0"/>
            <a:ext cx="4595633" cy="2523420"/>
          </a:xfrm>
          <a:custGeom>
            <a:avLst/>
            <a:gdLst/>
            <a:ahLst/>
            <a:cxnLst/>
            <a:rect r="r" b="b" t="t" l="l"/>
            <a:pathLst>
              <a:path h="2523420" w="4595633">
                <a:moveTo>
                  <a:pt x="4595633" y="2523420"/>
                </a:moveTo>
                <a:lnTo>
                  <a:pt x="0" y="2523420"/>
                </a:lnTo>
                <a:lnTo>
                  <a:pt x="0" y="0"/>
                </a:lnTo>
                <a:lnTo>
                  <a:pt x="4595633" y="0"/>
                </a:lnTo>
                <a:lnTo>
                  <a:pt x="4595633" y="252342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0" y="-712395"/>
            <a:ext cx="6282507" cy="3482190"/>
          </a:xfrm>
          <a:custGeom>
            <a:avLst/>
            <a:gdLst/>
            <a:ahLst/>
            <a:cxnLst/>
            <a:rect r="r" b="b" t="t" l="l"/>
            <a:pathLst>
              <a:path h="3482190" w="6282507">
                <a:moveTo>
                  <a:pt x="0" y="0"/>
                </a:moveTo>
                <a:lnTo>
                  <a:pt x="6282507" y="0"/>
                </a:lnTo>
                <a:lnTo>
                  <a:pt x="6282507" y="3482190"/>
                </a:lnTo>
                <a:lnTo>
                  <a:pt x="0" y="3482190"/>
                </a:lnTo>
                <a:lnTo>
                  <a:pt x="0" y="0"/>
                </a:lnTo>
                <a:close/>
              </a:path>
            </a:pathLst>
          </a:custGeom>
          <a:blipFill>
            <a:blip r:embed="rId5">
              <a:alphaModFix amt="84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333752"/>
            <a:ext cx="13147010" cy="1172480"/>
          </a:xfrm>
          <a:prstGeom prst="rect">
            <a:avLst/>
          </a:prstGeom>
        </p:spPr>
        <p:txBody>
          <a:bodyPr anchor="t" rtlCol="false" tIns="0" lIns="0" bIns="0" rIns="0">
            <a:spAutoFit/>
          </a:bodyPr>
          <a:lstStyle/>
          <a:p>
            <a:pPr algn="ctr" marL="0" indent="0" lvl="0">
              <a:lnSpc>
                <a:spcPts val="9689"/>
              </a:lnSpc>
              <a:spcBef>
                <a:spcPct val="0"/>
              </a:spcBef>
            </a:pPr>
            <a:r>
              <a:rPr lang="en-US" b="true" sz="6921">
                <a:solidFill>
                  <a:srgbClr val="FFFFFF"/>
                </a:solidFill>
                <a:latin typeface="League Spartan"/>
                <a:ea typeface="League Spartan"/>
                <a:cs typeface="League Spartan"/>
                <a:sym typeface="League Spartan"/>
              </a:rPr>
              <a:t>IMSAXES Portal Components</a:t>
            </a:r>
          </a:p>
        </p:txBody>
      </p:sp>
      <p:sp>
        <p:nvSpPr>
          <p:cNvPr name="TextBox 3" id="3"/>
          <p:cNvSpPr txBox="true"/>
          <p:nvPr/>
        </p:nvSpPr>
        <p:spPr>
          <a:xfrm rot="0">
            <a:off x="3620585" y="6305062"/>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Real-time execution telemetry via Socket.IO for live monitoring. MySQL backend database for comprehensive tracking and reporting.</a:t>
            </a:r>
          </a:p>
        </p:txBody>
      </p:sp>
      <p:sp>
        <p:nvSpPr>
          <p:cNvPr name="Freeform 4" id="4"/>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620585" y="4179253"/>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Secure React-based web interface with JWT authentication. Configuration, server and suite selection capabilities.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295652"/>
            <a:ext cx="13147010" cy="1434929"/>
          </a:xfrm>
          <a:prstGeom prst="rect">
            <a:avLst/>
          </a:prstGeom>
        </p:spPr>
        <p:txBody>
          <a:bodyPr anchor="t" rtlCol="false" tIns="0" lIns="0" bIns="0" rIns="0">
            <a:spAutoFit/>
          </a:bodyPr>
          <a:lstStyle/>
          <a:p>
            <a:pPr algn="ctr" marL="0" indent="0" lvl="0">
              <a:lnSpc>
                <a:spcPts val="11785"/>
              </a:lnSpc>
              <a:spcBef>
                <a:spcPct val="0"/>
              </a:spcBef>
            </a:pPr>
            <a:r>
              <a:rPr lang="en-US" b="true" sz="8418">
                <a:solidFill>
                  <a:srgbClr val="FFFFFF"/>
                </a:solidFill>
                <a:latin typeface="League Spartan"/>
                <a:ea typeface="League Spartan"/>
                <a:cs typeface="League Spartan"/>
                <a:sym typeface="League Spartan"/>
              </a:rPr>
              <a:t>Development Approach</a:t>
            </a:r>
          </a:p>
        </p:txBody>
      </p:sp>
      <p:sp>
        <p:nvSpPr>
          <p:cNvPr name="TextBox 3" id="3"/>
          <p:cNvSpPr txBox="true"/>
          <p:nvPr/>
        </p:nvSpPr>
        <p:spPr>
          <a:xfrm rot="0">
            <a:off x="3620585" y="4217353"/>
            <a:ext cx="10217427" cy="1739849"/>
          </a:xfrm>
          <a:prstGeom prst="rect">
            <a:avLst/>
          </a:prstGeom>
        </p:spPr>
        <p:txBody>
          <a:bodyPr anchor="t" rtlCol="false" tIns="0" lIns="0" bIns="0" rIns="0">
            <a:spAutoFit/>
          </a:bodyPr>
          <a:lstStyle/>
          <a:p>
            <a:pPr algn="l" marL="0" indent="0" lvl="0">
              <a:lnSpc>
                <a:spcPts val="3327"/>
              </a:lnSpc>
            </a:pPr>
            <a:r>
              <a:rPr lang="en-US" sz="2377">
                <a:solidFill>
                  <a:srgbClr val="FFFFFF"/>
                </a:solidFill>
                <a:latin typeface="Agrandir"/>
                <a:ea typeface="Agrandir"/>
                <a:cs typeface="Agrandir"/>
                <a:sym typeface="Agrandir"/>
              </a:rPr>
              <a:t>Phase 1: Initiation and strategy setup</a:t>
            </a:r>
          </a:p>
          <a:p>
            <a:pPr algn="l" marL="0" indent="0" lvl="0">
              <a:lnSpc>
                <a:spcPts val="3327"/>
              </a:lnSpc>
            </a:pPr>
            <a:r>
              <a:rPr lang="en-US" sz="2377">
                <a:solidFill>
                  <a:srgbClr val="FFFFFF"/>
                </a:solidFill>
                <a:latin typeface="Agrandir"/>
                <a:ea typeface="Agrandir"/>
                <a:cs typeface="Agrandir"/>
                <a:sym typeface="Agrandir"/>
              </a:rPr>
              <a:t>Phase 2: Requirements analysis and test planning</a:t>
            </a:r>
          </a:p>
          <a:p>
            <a:pPr algn="l" marL="0" indent="0" lvl="0">
              <a:lnSpc>
                <a:spcPts val="3327"/>
              </a:lnSpc>
            </a:pPr>
            <a:r>
              <a:rPr lang="en-US" sz="2377">
                <a:solidFill>
                  <a:srgbClr val="FFFFFF"/>
                </a:solidFill>
                <a:latin typeface="Agrandir"/>
                <a:ea typeface="Agrandir"/>
                <a:cs typeface="Agrandir"/>
                <a:sym typeface="Agrandir"/>
              </a:rPr>
              <a:t>Phase 3: Knowledge transfer and scenario design</a:t>
            </a:r>
          </a:p>
          <a:p>
            <a:pPr algn="l" marL="0" indent="0" lvl="0">
              <a:lnSpc>
                <a:spcPts val="3327"/>
              </a:lnSpc>
            </a:pPr>
            <a:r>
              <a:rPr lang="en-US" sz="2377">
                <a:solidFill>
                  <a:srgbClr val="FFFFFF"/>
                </a:solidFill>
                <a:latin typeface="Agrandir"/>
                <a:ea typeface="Agrandir"/>
                <a:cs typeface="Agrandir"/>
                <a:sym typeface="Agrandir"/>
              </a:rPr>
              <a:t>Phase 4: Environment and platform setup</a:t>
            </a:r>
          </a:p>
        </p:txBody>
      </p:sp>
      <p:sp>
        <p:nvSpPr>
          <p:cNvPr name="TextBox 4" id="4"/>
          <p:cNvSpPr txBox="true"/>
          <p:nvPr/>
        </p:nvSpPr>
        <p:spPr>
          <a:xfrm rot="0">
            <a:off x="3620585" y="6343162"/>
            <a:ext cx="10217427" cy="1320749"/>
          </a:xfrm>
          <a:prstGeom prst="rect">
            <a:avLst/>
          </a:prstGeom>
        </p:spPr>
        <p:txBody>
          <a:bodyPr anchor="t" rtlCol="false" tIns="0" lIns="0" bIns="0" rIns="0">
            <a:spAutoFit/>
          </a:bodyPr>
          <a:lstStyle/>
          <a:p>
            <a:pPr algn="l" marL="0" indent="0" lvl="0">
              <a:lnSpc>
                <a:spcPts val="3327"/>
              </a:lnSpc>
            </a:pPr>
            <a:r>
              <a:rPr lang="en-US" sz="2377">
                <a:solidFill>
                  <a:srgbClr val="FFFFFF"/>
                </a:solidFill>
                <a:latin typeface="Agrandir"/>
                <a:ea typeface="Agrandir"/>
                <a:cs typeface="Agrandir"/>
                <a:sym typeface="Agrandir"/>
              </a:rPr>
              <a:t>Phase 5: Script design and automation workflow</a:t>
            </a:r>
          </a:p>
          <a:p>
            <a:pPr algn="l" marL="0" indent="0" lvl="0">
              <a:lnSpc>
                <a:spcPts val="3327"/>
              </a:lnSpc>
            </a:pPr>
            <a:r>
              <a:rPr lang="en-US" sz="2377">
                <a:solidFill>
                  <a:srgbClr val="FFFFFF"/>
                </a:solidFill>
                <a:latin typeface="Agrandir"/>
                <a:ea typeface="Agrandir"/>
                <a:cs typeface="Agrandir"/>
                <a:sym typeface="Agrandir"/>
              </a:rPr>
              <a:t>Phase 6: Execution and final delivery</a:t>
            </a:r>
          </a:p>
          <a:p>
            <a:pPr algn="l" marL="0" indent="0" lvl="0">
              <a:lnSpc>
                <a:spcPts val="3327"/>
              </a:lnSpc>
            </a:pPr>
            <a:r>
              <a:rPr lang="en-US" sz="2377">
                <a:solidFill>
                  <a:srgbClr val="FFFFFF"/>
                </a:solidFill>
                <a:latin typeface="Agrandir"/>
                <a:ea typeface="Agrandir"/>
                <a:cs typeface="Agrandir"/>
                <a:sym typeface="Agrandir"/>
              </a:rPr>
              <a:t>Phase 7: Maintenance and continuous improvement</a:t>
            </a:r>
          </a:p>
        </p:txBody>
      </p:sp>
      <p:sp>
        <p:nvSpPr>
          <p:cNvPr name="Freeform 5" id="5"/>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286127"/>
            <a:ext cx="13147010" cy="1531335"/>
          </a:xfrm>
          <a:prstGeom prst="rect">
            <a:avLst/>
          </a:prstGeom>
        </p:spPr>
        <p:txBody>
          <a:bodyPr anchor="t" rtlCol="false" tIns="0" lIns="0" bIns="0" rIns="0">
            <a:spAutoFit/>
          </a:bodyPr>
          <a:lstStyle/>
          <a:p>
            <a:pPr algn="ctr" marL="0" indent="0" lvl="0">
              <a:lnSpc>
                <a:spcPts val="12506"/>
              </a:lnSpc>
              <a:spcBef>
                <a:spcPct val="0"/>
              </a:spcBef>
            </a:pPr>
            <a:r>
              <a:rPr lang="en-US" b="true" sz="8933">
                <a:solidFill>
                  <a:srgbClr val="FFFFFF"/>
                </a:solidFill>
                <a:latin typeface="League Spartan"/>
                <a:ea typeface="League Spartan"/>
                <a:cs typeface="League Spartan"/>
                <a:sym typeface="League Spartan"/>
              </a:rPr>
              <a:t>Testing Strategy</a:t>
            </a:r>
          </a:p>
        </p:txBody>
      </p:sp>
      <p:sp>
        <p:nvSpPr>
          <p:cNvPr name="TextBox 3" id="3"/>
          <p:cNvSpPr txBox="true"/>
          <p:nvPr/>
        </p:nvSpPr>
        <p:spPr>
          <a:xfrm rot="0">
            <a:off x="3620585" y="6305062"/>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Performance Testing: Load and stress simulation with network condition testing to ensure system reliability under heavy usage.</a:t>
            </a:r>
          </a:p>
        </p:txBody>
      </p:sp>
      <p:sp>
        <p:nvSpPr>
          <p:cNvPr name="Freeform 4" id="4"/>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620585" y="4179253"/>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Functional Testing: Login workflows, task management verification, and core feature validation across modules.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9863594" y="931677"/>
            <a:ext cx="7657546" cy="2805257"/>
          </a:xfrm>
          <a:prstGeom prst="rect">
            <a:avLst/>
          </a:prstGeom>
        </p:spPr>
        <p:txBody>
          <a:bodyPr anchor="t" rtlCol="false" tIns="0" lIns="0" bIns="0" rIns="0">
            <a:spAutoFit/>
          </a:bodyPr>
          <a:lstStyle/>
          <a:p>
            <a:pPr algn="l" marL="0" indent="0" lvl="0">
              <a:lnSpc>
                <a:spcPts val="11279"/>
              </a:lnSpc>
              <a:spcBef>
                <a:spcPct val="0"/>
              </a:spcBef>
            </a:pPr>
            <a:r>
              <a:rPr lang="en-US" b="true" sz="8056">
                <a:solidFill>
                  <a:srgbClr val="FFFFFF"/>
                </a:solidFill>
                <a:latin typeface="League Spartan"/>
                <a:ea typeface="League Spartan"/>
                <a:cs typeface="League Spartan"/>
                <a:sym typeface="League Spartan"/>
              </a:rPr>
              <a:t>Achievements and Outcomes</a:t>
            </a:r>
          </a:p>
        </p:txBody>
      </p:sp>
      <p:sp>
        <p:nvSpPr>
          <p:cNvPr name="TextBox 3" id="3"/>
          <p:cNvSpPr txBox="true"/>
          <p:nvPr/>
        </p:nvSpPr>
        <p:spPr>
          <a:xfrm rot="0">
            <a:off x="9144000" y="4148311"/>
            <a:ext cx="7657546" cy="1887144"/>
          </a:xfrm>
          <a:prstGeom prst="rect">
            <a:avLst/>
          </a:prstGeom>
        </p:spPr>
        <p:txBody>
          <a:bodyPr anchor="t" rtlCol="false" tIns="0" lIns="0" bIns="0" rIns="0">
            <a:spAutoFit/>
          </a:bodyPr>
          <a:lstStyle/>
          <a:p>
            <a:pPr algn="l" marL="0" indent="0" lvl="0">
              <a:lnSpc>
                <a:spcPts val="3609"/>
              </a:lnSpc>
            </a:pPr>
            <a:r>
              <a:rPr lang="en-US" sz="2578">
                <a:solidFill>
                  <a:srgbClr val="FFFFFF"/>
                </a:solidFill>
                <a:latin typeface="Agrandir"/>
                <a:ea typeface="Agrandir"/>
                <a:cs typeface="Agrandir"/>
                <a:sym typeface="Agrandir"/>
              </a:rPr>
              <a:t>Critical time savings achieved through parallel batch executions across multiple VMs. Reduced manual errors significantly in environment setup and test configuration.</a:t>
            </a:r>
          </a:p>
        </p:txBody>
      </p:sp>
      <p:sp>
        <p:nvSpPr>
          <p:cNvPr name="Freeform 4" id="4"/>
          <p:cNvSpPr/>
          <p:nvPr/>
        </p:nvSpPr>
        <p:spPr>
          <a:xfrm flipH="false" flipV="false" rot="0">
            <a:off x="0" y="0"/>
            <a:ext cx="8044183" cy="10287000"/>
          </a:xfrm>
          <a:custGeom>
            <a:avLst/>
            <a:gdLst/>
            <a:ahLst/>
            <a:cxnLst/>
            <a:rect r="r" b="b" t="t" l="l"/>
            <a:pathLst>
              <a:path h="10287000" w="8044183">
                <a:moveTo>
                  <a:pt x="0" y="0"/>
                </a:moveTo>
                <a:lnTo>
                  <a:pt x="8044183" y="0"/>
                </a:lnTo>
                <a:lnTo>
                  <a:pt x="8044183" y="10287000"/>
                </a:lnTo>
                <a:lnTo>
                  <a:pt x="0" y="10287000"/>
                </a:lnTo>
                <a:lnTo>
                  <a:pt x="0" y="0"/>
                </a:lnTo>
                <a:close/>
              </a:path>
            </a:pathLst>
          </a:custGeom>
          <a:blipFill>
            <a:blip r:embed="rId2"/>
            <a:stretch>
              <a:fillRect l="-1711" t="0" r="-1711" b="0"/>
            </a:stretch>
          </a:blipFill>
        </p:spPr>
      </p:sp>
      <p:sp>
        <p:nvSpPr>
          <p:cNvPr name="TextBox 5" id="5"/>
          <p:cNvSpPr txBox="true"/>
          <p:nvPr/>
        </p:nvSpPr>
        <p:spPr>
          <a:xfrm rot="0">
            <a:off x="9144000" y="6602310"/>
            <a:ext cx="7657546" cy="1887144"/>
          </a:xfrm>
          <a:prstGeom prst="rect">
            <a:avLst/>
          </a:prstGeom>
        </p:spPr>
        <p:txBody>
          <a:bodyPr anchor="t" rtlCol="false" tIns="0" lIns="0" bIns="0" rIns="0">
            <a:spAutoFit/>
          </a:bodyPr>
          <a:lstStyle/>
          <a:p>
            <a:pPr algn="l" marL="0" indent="0" lvl="0">
              <a:lnSpc>
                <a:spcPts val="3609"/>
              </a:lnSpc>
            </a:pPr>
            <a:r>
              <a:rPr lang="en-US" sz="2578">
                <a:solidFill>
                  <a:srgbClr val="FFFFFF"/>
                </a:solidFill>
                <a:latin typeface="Agrandir"/>
                <a:ea typeface="Agrandir"/>
                <a:cs typeface="Agrandir"/>
                <a:sym typeface="Agrandir"/>
              </a:rPr>
              <a:t>Increased productivity via centralized dashboards for monitoring. Consistent testing across builds with improved coverage and quality. Enhanced test maintainability and efficiency.</a:t>
            </a:r>
          </a:p>
        </p:txBody>
      </p:sp>
      <p:sp>
        <p:nvSpPr>
          <p:cNvPr name="Freeform 6" id="6"/>
          <p:cNvSpPr/>
          <p:nvPr/>
        </p:nvSpPr>
        <p:spPr>
          <a:xfrm flipH="false" flipV="false" rot="0">
            <a:off x="8044183" y="7809445"/>
            <a:ext cx="4512103" cy="2477555"/>
          </a:xfrm>
          <a:custGeom>
            <a:avLst/>
            <a:gdLst/>
            <a:ahLst/>
            <a:cxnLst/>
            <a:rect r="r" b="b" t="t" l="l"/>
            <a:pathLst>
              <a:path h="2477555" w="4512103">
                <a:moveTo>
                  <a:pt x="0" y="0"/>
                </a:moveTo>
                <a:lnTo>
                  <a:pt x="4512104" y="0"/>
                </a:lnTo>
                <a:lnTo>
                  <a:pt x="4512104" y="2477555"/>
                </a:lnTo>
                <a:lnTo>
                  <a:pt x="0" y="24775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0">
            <a:off x="13692367" y="0"/>
            <a:ext cx="4595633" cy="2523420"/>
          </a:xfrm>
          <a:custGeom>
            <a:avLst/>
            <a:gdLst/>
            <a:ahLst/>
            <a:cxnLst/>
            <a:rect r="r" b="b" t="t" l="l"/>
            <a:pathLst>
              <a:path h="2523420" w="4595633">
                <a:moveTo>
                  <a:pt x="4595633" y="2523420"/>
                </a:moveTo>
                <a:lnTo>
                  <a:pt x="0" y="2523420"/>
                </a:lnTo>
                <a:lnTo>
                  <a:pt x="0" y="0"/>
                </a:lnTo>
                <a:lnTo>
                  <a:pt x="4595633" y="0"/>
                </a:lnTo>
                <a:lnTo>
                  <a:pt x="4595633" y="252342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0" y="-712395"/>
            <a:ext cx="6282507" cy="3482190"/>
          </a:xfrm>
          <a:custGeom>
            <a:avLst/>
            <a:gdLst/>
            <a:ahLst/>
            <a:cxnLst/>
            <a:rect r="r" b="b" t="t" l="l"/>
            <a:pathLst>
              <a:path h="3482190" w="6282507">
                <a:moveTo>
                  <a:pt x="0" y="0"/>
                </a:moveTo>
                <a:lnTo>
                  <a:pt x="6282507" y="0"/>
                </a:lnTo>
                <a:lnTo>
                  <a:pt x="6282507" y="3482190"/>
                </a:lnTo>
                <a:lnTo>
                  <a:pt x="0" y="3482190"/>
                </a:lnTo>
                <a:lnTo>
                  <a:pt x="0" y="0"/>
                </a:lnTo>
                <a:close/>
              </a:path>
            </a:pathLst>
          </a:custGeom>
          <a:blipFill>
            <a:blip r:embed="rId5">
              <a:alphaModFix amt="84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286127"/>
            <a:ext cx="13147010" cy="1531335"/>
          </a:xfrm>
          <a:prstGeom prst="rect">
            <a:avLst/>
          </a:prstGeom>
        </p:spPr>
        <p:txBody>
          <a:bodyPr anchor="t" rtlCol="false" tIns="0" lIns="0" bIns="0" rIns="0">
            <a:spAutoFit/>
          </a:bodyPr>
          <a:lstStyle/>
          <a:p>
            <a:pPr algn="ctr" marL="0" indent="0" lvl="0">
              <a:lnSpc>
                <a:spcPts val="12506"/>
              </a:lnSpc>
              <a:spcBef>
                <a:spcPct val="0"/>
              </a:spcBef>
            </a:pPr>
            <a:r>
              <a:rPr lang="en-US" b="true" sz="8933">
                <a:solidFill>
                  <a:srgbClr val="FFFFFF"/>
                </a:solidFill>
                <a:latin typeface="League Spartan"/>
                <a:ea typeface="League Spartan"/>
                <a:cs typeface="League Spartan"/>
                <a:sym typeface="League Spartan"/>
              </a:rPr>
              <a:t>Limitations</a:t>
            </a:r>
          </a:p>
        </p:txBody>
      </p:sp>
      <p:sp>
        <p:nvSpPr>
          <p:cNvPr name="TextBox 3" id="3"/>
          <p:cNvSpPr txBox="true"/>
          <p:nvPr/>
        </p:nvSpPr>
        <p:spPr>
          <a:xfrm rot="0">
            <a:off x="3620585" y="6305062"/>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Windows UI volatility requires regular script maintenance due to frequent interface updates and element changes.</a:t>
            </a:r>
          </a:p>
        </p:txBody>
      </p:sp>
      <p:sp>
        <p:nvSpPr>
          <p:cNvPr name="Freeform 4" id="4"/>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620585" y="4179253"/>
            <a:ext cx="10217427" cy="1766627"/>
          </a:xfrm>
          <a:prstGeom prst="rect">
            <a:avLst/>
          </a:prstGeom>
        </p:spPr>
        <p:txBody>
          <a:bodyPr anchor="t" rtlCol="false" tIns="0" lIns="0" bIns="0" rIns="0">
            <a:spAutoFit/>
          </a:bodyPr>
          <a:lstStyle/>
          <a:p>
            <a:pPr algn="l" marL="0" indent="0" lvl="0">
              <a:lnSpc>
                <a:spcPts val="4476"/>
              </a:lnSpc>
            </a:pPr>
            <a:r>
              <a:rPr lang="en-US" sz="3197">
                <a:solidFill>
                  <a:srgbClr val="FFFFFF"/>
                </a:solidFill>
                <a:latin typeface="Agrandir"/>
                <a:ea typeface="Agrandir"/>
                <a:cs typeface="Agrandir"/>
                <a:sym typeface="Agrandir"/>
              </a:rPr>
              <a:t>Cannot replace exploratory testing and human intuition-based testing approaches that require creative thinking and domain expertise.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286127"/>
            <a:ext cx="13147010" cy="1531335"/>
          </a:xfrm>
          <a:prstGeom prst="rect">
            <a:avLst/>
          </a:prstGeom>
        </p:spPr>
        <p:txBody>
          <a:bodyPr anchor="t" rtlCol="false" tIns="0" lIns="0" bIns="0" rIns="0">
            <a:spAutoFit/>
          </a:bodyPr>
          <a:lstStyle/>
          <a:p>
            <a:pPr algn="ctr" marL="0" indent="0" lvl="0">
              <a:lnSpc>
                <a:spcPts val="12506"/>
              </a:lnSpc>
              <a:spcBef>
                <a:spcPct val="0"/>
              </a:spcBef>
            </a:pPr>
            <a:r>
              <a:rPr lang="en-US" b="true" sz="8933">
                <a:solidFill>
                  <a:srgbClr val="FFFFFF"/>
                </a:solidFill>
                <a:latin typeface="League Spartan"/>
                <a:ea typeface="League Spartan"/>
                <a:cs typeface="League Spartan"/>
                <a:sym typeface="League Spartan"/>
              </a:rPr>
              <a:t>Future Enhancements</a:t>
            </a:r>
          </a:p>
        </p:txBody>
      </p:sp>
      <p:sp>
        <p:nvSpPr>
          <p:cNvPr name="TextBox 3" id="3"/>
          <p:cNvSpPr txBox="true"/>
          <p:nvPr/>
        </p:nvSpPr>
        <p:spPr>
          <a:xfrm rot="0">
            <a:off x="3620585" y="4179253"/>
            <a:ext cx="10217427" cy="1739328"/>
          </a:xfrm>
          <a:prstGeom prst="rect">
            <a:avLst/>
          </a:prstGeom>
        </p:spPr>
        <p:txBody>
          <a:bodyPr anchor="t" rtlCol="false" tIns="0" lIns="0" bIns="0" rIns="0">
            <a:spAutoFit/>
          </a:bodyPr>
          <a:lstStyle/>
          <a:p>
            <a:pPr algn="l" marL="0" indent="0" lvl="0">
              <a:lnSpc>
                <a:spcPts val="4406"/>
              </a:lnSpc>
            </a:pPr>
            <a:r>
              <a:rPr lang="en-US" sz="3147">
                <a:solidFill>
                  <a:srgbClr val="FFFFFF"/>
                </a:solidFill>
                <a:latin typeface="Agrandir"/>
                <a:ea typeface="Agrandir"/>
                <a:cs typeface="Agrandir"/>
                <a:sym typeface="Agrandir"/>
              </a:rPr>
              <a:t>AI-assisted test generation from BDD inputs to automatically create test scripts from behavior-driven specifications.</a:t>
            </a:r>
          </a:p>
        </p:txBody>
      </p:sp>
      <p:sp>
        <p:nvSpPr>
          <p:cNvPr name="TextBox 4" id="4"/>
          <p:cNvSpPr txBox="true"/>
          <p:nvPr/>
        </p:nvSpPr>
        <p:spPr>
          <a:xfrm rot="0">
            <a:off x="3620585" y="6305062"/>
            <a:ext cx="10217427" cy="1739328"/>
          </a:xfrm>
          <a:prstGeom prst="rect">
            <a:avLst/>
          </a:prstGeom>
        </p:spPr>
        <p:txBody>
          <a:bodyPr anchor="t" rtlCol="false" tIns="0" lIns="0" bIns="0" rIns="0">
            <a:spAutoFit/>
          </a:bodyPr>
          <a:lstStyle/>
          <a:p>
            <a:pPr algn="l" marL="0" indent="0" lvl="0">
              <a:lnSpc>
                <a:spcPts val="4406"/>
              </a:lnSpc>
            </a:pPr>
            <a:r>
              <a:rPr lang="en-US" sz="3147">
                <a:solidFill>
                  <a:srgbClr val="FFFFFF"/>
                </a:solidFill>
                <a:latin typeface="Agrandir"/>
                <a:ea typeface="Agrandir"/>
                <a:cs typeface="Agrandir"/>
                <a:sym typeface="Agrandir"/>
              </a:rPr>
              <a:t>Predictive AI-driven mock data generation and automated performance CI/CD integration with predictive dashboard analytics for anomaly detection.</a:t>
            </a:r>
          </a:p>
        </p:txBody>
      </p:sp>
      <p:sp>
        <p:nvSpPr>
          <p:cNvPr name="Freeform 5" id="5"/>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TextBox 2" id="2"/>
          <p:cNvSpPr txBox="true"/>
          <p:nvPr/>
        </p:nvSpPr>
        <p:spPr>
          <a:xfrm rot="0">
            <a:off x="2570495" y="2314702"/>
            <a:ext cx="13147010" cy="1320069"/>
          </a:xfrm>
          <a:prstGeom prst="rect">
            <a:avLst/>
          </a:prstGeom>
        </p:spPr>
        <p:txBody>
          <a:bodyPr anchor="t" rtlCol="false" tIns="0" lIns="0" bIns="0" rIns="0">
            <a:spAutoFit/>
          </a:bodyPr>
          <a:lstStyle/>
          <a:p>
            <a:pPr algn="ctr" marL="0" indent="0" lvl="0">
              <a:lnSpc>
                <a:spcPts val="10868"/>
              </a:lnSpc>
              <a:spcBef>
                <a:spcPct val="0"/>
              </a:spcBef>
            </a:pPr>
            <a:r>
              <a:rPr lang="en-US" b="true" sz="7763">
                <a:solidFill>
                  <a:srgbClr val="FFFFFF"/>
                </a:solidFill>
                <a:latin typeface="League Spartan"/>
                <a:ea typeface="League Spartan"/>
                <a:cs typeface="League Spartan"/>
                <a:sym typeface="League Spartan"/>
              </a:rPr>
              <a:t>Roles and Responsibilities</a:t>
            </a:r>
          </a:p>
        </p:txBody>
      </p:sp>
      <p:sp>
        <p:nvSpPr>
          <p:cNvPr name="TextBox 3" id="3"/>
          <p:cNvSpPr txBox="true"/>
          <p:nvPr/>
        </p:nvSpPr>
        <p:spPr>
          <a:xfrm rot="0">
            <a:off x="3620585" y="6362212"/>
            <a:ext cx="10217427" cy="1300848"/>
          </a:xfrm>
          <a:prstGeom prst="rect">
            <a:avLst/>
          </a:prstGeom>
        </p:spPr>
        <p:txBody>
          <a:bodyPr anchor="t" rtlCol="false" tIns="0" lIns="0" bIns="0" rIns="0">
            <a:spAutoFit/>
          </a:bodyPr>
          <a:lstStyle/>
          <a:p>
            <a:pPr algn="l" marL="0" indent="0" lvl="0">
              <a:lnSpc>
                <a:spcPts val="3374"/>
              </a:lnSpc>
            </a:pPr>
            <a:r>
              <a:rPr lang="en-US" sz="2410">
                <a:solidFill>
                  <a:srgbClr val="FFFFFF"/>
                </a:solidFill>
                <a:latin typeface="Agrandir"/>
                <a:ea typeface="Agrandir"/>
                <a:cs typeface="Agrandir"/>
                <a:sym typeface="Agrandir"/>
              </a:rPr>
              <a:t>• Designing automation workflows for sanity and regression testing</a:t>
            </a:r>
          </a:p>
          <a:p>
            <a:pPr algn="l" marL="0" indent="0" lvl="0">
              <a:lnSpc>
                <a:spcPts val="3374"/>
              </a:lnSpc>
            </a:pPr>
            <a:r>
              <a:rPr lang="en-US" sz="2410">
                <a:solidFill>
                  <a:srgbClr val="FFFFFF"/>
                </a:solidFill>
                <a:latin typeface="Agrandir"/>
                <a:ea typeface="Agrandir"/>
                <a:cs typeface="Agrandir"/>
                <a:sym typeface="Agrandir"/>
              </a:rPr>
              <a:t>• Creating and maintaining technical documentation</a:t>
            </a:r>
          </a:p>
          <a:p>
            <a:pPr algn="l" marL="0" indent="0" lvl="0">
              <a:lnSpc>
                <a:spcPts val="3374"/>
              </a:lnSpc>
            </a:pPr>
            <a:r>
              <a:rPr lang="en-US" sz="2410">
                <a:solidFill>
                  <a:srgbClr val="FFFFFF"/>
                </a:solidFill>
                <a:latin typeface="Agrandir"/>
                <a:ea typeface="Agrandir"/>
                <a:cs typeface="Agrandir"/>
                <a:sym typeface="Agrandir"/>
              </a:rPr>
              <a:t>• Knowledge transfer sessions with team members</a:t>
            </a:r>
          </a:p>
        </p:txBody>
      </p:sp>
      <p:sp>
        <p:nvSpPr>
          <p:cNvPr name="Freeform 4" id="4"/>
          <p:cNvSpPr/>
          <p:nvPr/>
        </p:nvSpPr>
        <p:spPr>
          <a:xfrm flipH="false" flipV="false" rot="0">
            <a:off x="0" y="7573285"/>
            <a:ext cx="5353983" cy="2939823"/>
          </a:xfrm>
          <a:custGeom>
            <a:avLst/>
            <a:gdLst/>
            <a:ahLst/>
            <a:cxnLst/>
            <a:rect r="r" b="b" t="t" l="l"/>
            <a:pathLst>
              <a:path h="2939823" w="5353983">
                <a:moveTo>
                  <a:pt x="0" y="0"/>
                </a:moveTo>
                <a:lnTo>
                  <a:pt x="5353983" y="0"/>
                </a:lnTo>
                <a:lnTo>
                  <a:pt x="5353983" y="2939823"/>
                </a:lnTo>
                <a:lnTo>
                  <a:pt x="0" y="2939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2934017" y="0"/>
            <a:ext cx="5353983" cy="2939823"/>
          </a:xfrm>
          <a:custGeom>
            <a:avLst/>
            <a:gdLst/>
            <a:ahLst/>
            <a:cxnLst/>
            <a:rect r="r" b="b" t="t" l="l"/>
            <a:pathLst>
              <a:path h="2939823" w="5353983">
                <a:moveTo>
                  <a:pt x="5353983" y="2939823"/>
                </a:moveTo>
                <a:lnTo>
                  <a:pt x="0" y="2939823"/>
                </a:lnTo>
                <a:lnTo>
                  <a:pt x="0" y="0"/>
                </a:lnTo>
                <a:lnTo>
                  <a:pt x="5353983" y="0"/>
                </a:lnTo>
                <a:lnTo>
                  <a:pt x="5353983" y="29398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620585" y="4236403"/>
            <a:ext cx="10217427" cy="1300848"/>
          </a:xfrm>
          <a:prstGeom prst="rect">
            <a:avLst/>
          </a:prstGeom>
        </p:spPr>
        <p:txBody>
          <a:bodyPr anchor="t" rtlCol="false" tIns="0" lIns="0" bIns="0" rIns="0">
            <a:spAutoFit/>
          </a:bodyPr>
          <a:lstStyle/>
          <a:p>
            <a:pPr algn="l" marL="0" indent="0" lvl="0">
              <a:lnSpc>
                <a:spcPts val="3374"/>
              </a:lnSpc>
            </a:pPr>
            <a:r>
              <a:rPr lang="en-US" sz="2410">
                <a:solidFill>
                  <a:srgbClr val="FFFFFF"/>
                </a:solidFill>
                <a:latin typeface="Agrandir"/>
                <a:ea typeface="Agrandir"/>
                <a:cs typeface="Agrandir"/>
                <a:sym typeface="Agrandir"/>
              </a:rPr>
              <a:t>• Requirement gathering and analysis for automation test scenarios</a:t>
            </a:r>
          </a:p>
          <a:p>
            <a:pPr algn="l" marL="0" indent="0" lvl="0">
              <a:lnSpc>
                <a:spcPts val="3374"/>
              </a:lnSpc>
            </a:pPr>
            <a:r>
              <a:rPr lang="en-US" sz="2410">
                <a:solidFill>
                  <a:srgbClr val="FFFFFF"/>
                </a:solidFill>
                <a:latin typeface="Agrandir"/>
                <a:ea typeface="Agrandir"/>
                <a:cs typeface="Agrandir"/>
                <a:sym typeface="Agrandir"/>
              </a:rPr>
              <a:t>• Designing and developing automation scripts for IMSAXES framework</a:t>
            </a:r>
          </a:p>
          <a:p>
            <a:pPr algn="l" marL="0" indent="0" lvl="0">
              <a:lnSpc>
                <a:spcPts val="3374"/>
              </a:lnSpc>
            </a:pPr>
            <a:r>
              <a:rPr lang="en-US" sz="2410">
                <a:solidFill>
                  <a:srgbClr val="FFFFFF"/>
                </a:solidFill>
                <a:latin typeface="Agrandir"/>
                <a:ea typeface="Agrandir"/>
                <a:cs typeface="Agrandir"/>
                <a:sym typeface="Agrandir"/>
              </a:rPr>
              <a:t>• Executing test suites and generating comprehensive test reports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871A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5746408" y="313159"/>
            <a:ext cx="13928456" cy="9401708"/>
          </a:xfrm>
          <a:custGeom>
            <a:avLst/>
            <a:gdLst/>
            <a:ahLst/>
            <a:cxnLst/>
            <a:rect r="r" b="b" t="t" l="l"/>
            <a:pathLst>
              <a:path h="9401708" w="13928456">
                <a:moveTo>
                  <a:pt x="0" y="0"/>
                </a:moveTo>
                <a:lnTo>
                  <a:pt x="13928456" y="0"/>
                </a:lnTo>
                <a:lnTo>
                  <a:pt x="13928456" y="9401708"/>
                </a:lnTo>
                <a:lnTo>
                  <a:pt x="0" y="9401708"/>
                </a:lnTo>
                <a:lnTo>
                  <a:pt x="0" y="0"/>
                </a:lnTo>
                <a:close/>
              </a:path>
            </a:pathLst>
          </a:custGeom>
          <a:blipFill>
            <a:blip r:embed="rId3"/>
            <a:stretch>
              <a:fillRect l="0" t="0" r="0" b="0"/>
            </a:stretch>
          </a:blipFill>
        </p:spPr>
      </p:sp>
      <p:sp>
        <p:nvSpPr>
          <p:cNvPr name="Freeform 4" id="4"/>
          <p:cNvSpPr/>
          <p:nvPr/>
        </p:nvSpPr>
        <p:spPr>
          <a:xfrm flipH="false" flipV="true" rot="0">
            <a:off x="0" y="6804810"/>
            <a:ext cx="6282507" cy="3482190"/>
          </a:xfrm>
          <a:custGeom>
            <a:avLst/>
            <a:gdLst/>
            <a:ahLst/>
            <a:cxnLst/>
            <a:rect r="r" b="b" t="t" l="l"/>
            <a:pathLst>
              <a:path h="3482190" w="6282507">
                <a:moveTo>
                  <a:pt x="0" y="3482190"/>
                </a:moveTo>
                <a:lnTo>
                  <a:pt x="6282507" y="3482190"/>
                </a:lnTo>
                <a:lnTo>
                  <a:pt x="6282507" y="0"/>
                </a:lnTo>
                <a:lnTo>
                  <a:pt x="0" y="0"/>
                </a:lnTo>
                <a:lnTo>
                  <a:pt x="0" y="3482190"/>
                </a:lnTo>
                <a:close/>
              </a:path>
            </a:pathLst>
          </a:custGeom>
          <a:blipFill>
            <a:blip r:embed="rId4">
              <a:alphaModFix amt="84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658047" y="3187207"/>
            <a:ext cx="5579750" cy="2948762"/>
          </a:xfrm>
          <a:prstGeom prst="rect">
            <a:avLst/>
          </a:prstGeom>
        </p:spPr>
        <p:txBody>
          <a:bodyPr anchor="t" rtlCol="false" tIns="0" lIns="0" bIns="0" rIns="0">
            <a:spAutoFit/>
          </a:bodyPr>
          <a:lstStyle/>
          <a:p>
            <a:pPr algn="ctr" marL="0" indent="0" lvl="0">
              <a:lnSpc>
                <a:spcPts val="20667"/>
              </a:lnSpc>
              <a:spcBef>
                <a:spcPct val="0"/>
              </a:spcBef>
            </a:pPr>
            <a:r>
              <a:rPr lang="en-US" b="true" sz="14762">
                <a:solidFill>
                  <a:srgbClr val="5598C2"/>
                </a:solidFill>
                <a:latin typeface="Agrandir Bold"/>
                <a:ea typeface="Agrandir Bold"/>
                <a:cs typeface="Agrandir Bold"/>
                <a:sym typeface="Agrandir Bold"/>
              </a:rPr>
              <a:t>Thank</a:t>
            </a:r>
          </a:p>
        </p:txBody>
      </p:sp>
      <p:sp>
        <p:nvSpPr>
          <p:cNvPr name="TextBox 6" id="6"/>
          <p:cNvSpPr txBox="true"/>
          <p:nvPr/>
        </p:nvSpPr>
        <p:spPr>
          <a:xfrm rot="0">
            <a:off x="13498511" y="2948368"/>
            <a:ext cx="3760789" cy="3340715"/>
          </a:xfrm>
          <a:prstGeom prst="rect">
            <a:avLst/>
          </a:prstGeom>
        </p:spPr>
        <p:txBody>
          <a:bodyPr anchor="t" rtlCol="false" tIns="0" lIns="0" bIns="0" rIns="0">
            <a:spAutoFit/>
          </a:bodyPr>
          <a:lstStyle/>
          <a:p>
            <a:pPr algn="ctr" marL="0" indent="0" lvl="0">
              <a:lnSpc>
                <a:spcPts val="23528"/>
              </a:lnSpc>
              <a:spcBef>
                <a:spcPct val="0"/>
              </a:spcBef>
            </a:pPr>
            <a:r>
              <a:rPr lang="en-US" b="true" sz="16805">
                <a:solidFill>
                  <a:srgbClr val="374342"/>
                </a:solidFill>
                <a:latin typeface="Agrandir Bold"/>
                <a:ea typeface="Agrandir Bold"/>
                <a:cs typeface="Agrandir Bold"/>
                <a:sym typeface="Agrandir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DAHG_tU_ENA</dc:identifier>
  <dcterms:modified xsi:type="dcterms:W3CDTF">2011-08-01T06:04:30Z</dcterms:modified>
  <cp:revision>1</cp:revision>
  <dc:title>IMSAXES Automation Internship Overview</dc:title>
</cp:coreProperties>
</file>